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C5E45-F7CE-4E7E-B74C-5A1E8AF0489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A025B-025E-4BE8-96F1-BBEF19DDF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9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BF7C5F7-EACA-43FE-8F4C-7E169B543C6C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48293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F9E2-9EA8-4B0B-ACC2-684F5976975D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80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B3E0DB2-C7CD-4912-8847-82EAB8E3D195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33673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BC3A6-9195-4EC3-B9D2-09B56E597D8C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69101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EAA8-C0E0-417D-961A-C8215BBFFD19}" type="datetime1">
              <a:rPr lang="ru-RU" smtClean="0"/>
              <a:t>05.11.2025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00397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18BD6-AFE4-459E-8011-F861CFBF924A}" type="datetime1">
              <a:rPr lang="ru-RU" smtClean="0"/>
              <a:t>05.11.2025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69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6430-807A-46F7-82A9-F60A0A0008E0}" type="datetime1">
              <a:rPr lang="ru-RU" smtClean="0"/>
              <a:t>05.11.2025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35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A9CB829A-0A2B-41CA-A93A-51A9765608FF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371341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0B1E575-DFE3-4840-931F-497F383A51D3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83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8E8D-D7DD-4773-A802-CB09AAEC826A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9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E81E-8A03-4D6F-975C-62157B00D052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54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E88FD9F-2380-4947-BB33-35495F0CF047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29DA607-9FD3-474E-82D2-49D9A42F7838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306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04885" y="2410956"/>
            <a:ext cx="7772400" cy="16561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latin typeface="+mn-lt"/>
                <a:cs typeface="Times New Roman" panose="02020603050405020304" pitchFamily="18" charset="0"/>
              </a:rPr>
              <a:t>РАЗРАБОТКА БИБЛИОТЕКИ КОМПОНЕНТОВ </a:t>
            </a:r>
            <a:r>
              <a:rPr lang="en-US" sz="4000" b="1" dirty="0" smtClean="0">
                <a:latin typeface="+mn-lt"/>
                <a:cs typeface="Times New Roman" panose="02020603050405020304" pitchFamily="18" charset="0"/>
              </a:rPr>
              <a:t>WPF</a:t>
            </a:r>
            <a:endParaRPr lang="ru-RU" sz="40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5716458" y="4344541"/>
            <a:ext cx="6400800" cy="20162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b="1" dirty="0" smtClean="0"/>
              <a:t>Студенты ИСПП-45:</a:t>
            </a:r>
          </a:p>
          <a:p>
            <a:pPr algn="r"/>
            <a:r>
              <a:rPr lang="ru-RU" b="1" dirty="0" smtClean="0"/>
              <a:t>Камкина Ольга Андреевна</a:t>
            </a:r>
          </a:p>
          <a:p>
            <a:pPr algn="r"/>
            <a:r>
              <a:rPr lang="ru-RU" b="1" dirty="0" smtClean="0"/>
              <a:t>Шумилова Полина Алексеевна</a:t>
            </a:r>
          </a:p>
          <a:p>
            <a:pPr algn="r"/>
            <a:r>
              <a:rPr lang="ru-RU" b="1" dirty="0" smtClean="0"/>
              <a:t>Преподаватель:</a:t>
            </a:r>
          </a:p>
          <a:p>
            <a:pPr algn="r"/>
            <a:r>
              <a:rPr lang="ru-RU" b="1" dirty="0" smtClean="0"/>
              <a:t>Садовский Роман Викторович</a:t>
            </a:r>
          </a:p>
          <a:p>
            <a:pPr algn="r"/>
            <a:endParaRPr lang="ru-RU" b="1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1628734" y="106700"/>
            <a:ext cx="89174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/>
              <a:t>ФЕДЕРАЛЬНОЕ ГОСУДАРСТВЕННОЕ БЮДЖЕТНОЕ ОБРАЗОВАТЕЛЬНОЕ</a:t>
            </a:r>
            <a:endParaRPr lang="ru-RU" sz="1400" dirty="0"/>
          </a:p>
          <a:p>
            <a:pPr algn="ctr"/>
            <a:r>
              <a:rPr lang="ru-RU" sz="1400" b="1" dirty="0"/>
              <a:t>УЧРЕЖДЕНИЕ ВЫСШЕГО ОБРАЗОВАНИЯ</a:t>
            </a:r>
            <a:endParaRPr lang="ru-RU" sz="1400" dirty="0"/>
          </a:p>
          <a:p>
            <a:pPr algn="ctr"/>
            <a:r>
              <a:rPr lang="ru-RU" sz="1400" b="1" dirty="0"/>
              <a:t>«САНКТ-ПЕТЕРБУРГСКИЙ ГОСУДАРСТВЕННЫЙ УНИВЕРСИТЕТ ТЕЛЕКОММУНИКАЦИЙ ИМ. ПРОФ. М.А. БОНЧ-БРУЕВИЧА»</a:t>
            </a:r>
            <a:endParaRPr lang="ru-RU" sz="1400" dirty="0"/>
          </a:p>
          <a:p>
            <a:pPr algn="ctr"/>
            <a:r>
              <a:rPr lang="ru-RU" sz="1400" b="1" dirty="0"/>
              <a:t>(</a:t>
            </a:r>
            <a:r>
              <a:rPr lang="ru-RU" sz="1400" b="1" dirty="0" err="1"/>
              <a:t>СПбГУТ</a:t>
            </a:r>
            <a:r>
              <a:rPr lang="ru-RU" sz="1400" b="1" dirty="0"/>
              <a:t>)</a:t>
            </a:r>
            <a:endParaRPr lang="ru-RU" sz="1400" dirty="0"/>
          </a:p>
          <a:p>
            <a:pPr algn="ctr"/>
            <a:r>
              <a:rPr lang="ru-RU" sz="1400" b="1" dirty="0"/>
              <a:t> </a:t>
            </a:r>
            <a:endParaRPr lang="ru-RU" sz="1400" dirty="0"/>
          </a:p>
          <a:p>
            <a:pPr algn="ctr"/>
            <a:r>
              <a:rPr lang="ru-RU" sz="1400" b="1" dirty="0"/>
              <a:t>АРХАНГЕЛЬСКИЙ КОЛЛЕДЖ ТЕЛЕКОММУНИКАЦИЙ</a:t>
            </a:r>
            <a:endParaRPr lang="ru-RU" sz="1400" dirty="0"/>
          </a:p>
          <a:p>
            <a:pPr algn="ctr"/>
            <a:r>
              <a:rPr lang="ru-RU" sz="1400" b="1" dirty="0"/>
              <a:t>ИМ. Б.Л. РОЗИНГА (ФИЛИАЛ) </a:t>
            </a:r>
            <a:r>
              <a:rPr lang="ru-RU" sz="1400" b="1" dirty="0" err="1"/>
              <a:t>СПбГУТ</a:t>
            </a:r>
            <a:endParaRPr lang="ru-RU" sz="1400" dirty="0"/>
          </a:p>
          <a:p>
            <a:pPr algn="ctr"/>
            <a:r>
              <a:rPr lang="ru-RU" sz="1400" b="1" dirty="0"/>
              <a:t>(АКТ (ф) </a:t>
            </a:r>
            <a:r>
              <a:rPr lang="ru-RU" sz="1400" b="1" dirty="0" err="1"/>
              <a:t>СПбГУТ</a:t>
            </a:r>
            <a:r>
              <a:rPr lang="ru-RU" sz="1400" b="1" dirty="0"/>
              <a:t>)</a:t>
            </a:r>
            <a:endParaRPr lang="ru-RU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4981274" y="6360765"/>
            <a:ext cx="221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</a:rPr>
              <a:t>Архангельск,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</a:rPr>
              <a:t>2025</a:t>
            </a:r>
            <a:endParaRPr lang="ru-RU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77002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Несмотря на рост популярности веб- и кроссплатформенных решений, настольные приложения на базе </a:t>
            </a:r>
            <a:r>
              <a:rPr lang="ru-RU" sz="2400" b="1" dirty="0" err="1"/>
              <a:t>Windows</a:t>
            </a:r>
            <a:r>
              <a:rPr lang="ru-RU" sz="2400" b="1" dirty="0"/>
              <a:t> </a:t>
            </a:r>
            <a:r>
              <a:rPr lang="ru-RU" sz="2400" b="1" dirty="0" err="1"/>
              <a:t>Presentation</a:t>
            </a:r>
            <a:r>
              <a:rPr lang="ru-RU" sz="2400" b="1" dirty="0"/>
              <a:t> </a:t>
            </a:r>
            <a:r>
              <a:rPr lang="ru-RU" sz="2400" b="1" dirty="0" err="1"/>
              <a:t>Foundation</a:t>
            </a:r>
            <a:r>
              <a:rPr lang="ru-RU" sz="2400" b="1" dirty="0"/>
              <a:t> (WPF) по-прежнему широко используются в корпоративной </a:t>
            </a:r>
            <a:r>
              <a:rPr lang="ru-RU" sz="2400" b="1" dirty="0" smtClean="0"/>
              <a:t>среде. </a:t>
            </a:r>
            <a:r>
              <a:rPr lang="ru-RU" sz="2400" b="1" dirty="0"/>
              <a:t>Однако разработка WPF-интерфейсов часто сопряжена с дублированием </a:t>
            </a:r>
            <a:r>
              <a:rPr lang="ru-RU" sz="2400" b="1" dirty="0" smtClean="0"/>
              <a:t>кода, для предотвращения этой проблемы актуально использовать библиотеки компонентов.</a:t>
            </a:r>
            <a:endParaRPr lang="ru-RU" sz="2400" b="1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695826"/>
            <a:ext cx="1806574" cy="180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7063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Разработать и представить готовую к использованию библиотеку </a:t>
            </a:r>
            <a:r>
              <a:rPr lang="ru-RU" sz="2400" b="1" dirty="0" err="1"/>
              <a:t>кастомных</a:t>
            </a:r>
            <a:r>
              <a:rPr lang="ru-RU" sz="2400" b="1" dirty="0"/>
              <a:t> UI-компонентов на платформе WPF, ориентированную на потребности профессиональных разработчиков, с акцентом на повторное использование, тестируемость и удобство интеграции.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189" y="4191000"/>
            <a:ext cx="3047485" cy="235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9185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Проанализировать типовые UI-элементы, часто используемые в корпоративных WPF-приложениях.</a:t>
            </a:r>
          </a:p>
          <a:p>
            <a:r>
              <a:rPr lang="ru-RU" sz="2400" b="1" dirty="0" smtClean="0"/>
              <a:t>Спроектировать и реализовать набор </a:t>
            </a:r>
            <a:r>
              <a:rPr lang="ru-RU" sz="2400" b="1" dirty="0" err="1" smtClean="0"/>
              <a:t>переиспользуемых</a:t>
            </a:r>
            <a:r>
              <a:rPr lang="ru-RU" sz="2400" b="1" dirty="0" smtClean="0"/>
              <a:t> компонентов с поддержкой </a:t>
            </a:r>
            <a:r>
              <a:rPr lang="ru-RU" sz="2400" b="1" dirty="0" err="1" smtClean="0"/>
              <a:t>темизации</a:t>
            </a:r>
            <a:r>
              <a:rPr lang="ru-RU" sz="2400" b="1" dirty="0" smtClean="0"/>
              <a:t>.</a:t>
            </a:r>
          </a:p>
          <a:p>
            <a:r>
              <a:rPr lang="ru-RU" sz="2400" b="1" dirty="0" smtClean="0"/>
              <a:t>Обеспечить соответствие компонентов современным практикам разработки</a:t>
            </a:r>
          </a:p>
          <a:p>
            <a:r>
              <a:rPr lang="ru-RU" sz="2400" b="1" dirty="0" smtClean="0"/>
              <a:t>Провести модульное и интеграционное тестирование компонентов.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8283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Описание используемых технологий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54100" y="2222620"/>
            <a:ext cx="10196742" cy="46609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smtClean="0"/>
              <a:t>Язык </a:t>
            </a:r>
            <a:r>
              <a:rPr lang="ru-RU" b="1" dirty="0"/>
              <a:t>программирования: </a:t>
            </a:r>
            <a:r>
              <a:rPr lang="en-US" b="1" dirty="0" smtClean="0"/>
              <a:t>C#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ru-RU" b="1" dirty="0"/>
              <a:t>Платформа: .</a:t>
            </a:r>
            <a:r>
              <a:rPr lang="en-US" b="1" dirty="0"/>
              <a:t>NET 9</a:t>
            </a: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UI-</a:t>
            </a:r>
            <a:r>
              <a:rPr lang="ru-RU" b="1" dirty="0" err="1"/>
              <a:t>фреймворк</a:t>
            </a:r>
            <a:r>
              <a:rPr lang="ru-RU" b="1" dirty="0"/>
              <a:t>: </a:t>
            </a:r>
            <a:r>
              <a:rPr lang="en-US" b="1" dirty="0"/>
              <a:t>Windows Presentation Foundation (WPF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ru-RU" b="1" dirty="0" smtClean="0"/>
              <a:t>Среда </a:t>
            </a:r>
            <a:r>
              <a:rPr lang="ru-RU" b="1" dirty="0"/>
              <a:t>разработки: </a:t>
            </a:r>
            <a:r>
              <a:rPr lang="en-US" b="1" dirty="0"/>
              <a:t>Visual Studio </a:t>
            </a:r>
            <a:r>
              <a:rPr lang="en-US" b="1" dirty="0" smtClean="0"/>
              <a:t>2022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ru-RU" b="1" dirty="0"/>
              <a:t>Система сборки и публикации: </a:t>
            </a:r>
            <a:r>
              <a:rPr lang="en-US" b="1" dirty="0" err="1" smtClean="0"/>
              <a:t>NuGet</a:t>
            </a: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r>
              <a:rPr lang="ru-RU" b="1" dirty="0"/>
              <a:t>Инструменты тестирования: </a:t>
            </a:r>
            <a:r>
              <a:rPr lang="en-US" b="1" dirty="0" err="1" smtClean="0"/>
              <a:t>xUnit</a:t>
            </a:r>
            <a:endParaRPr lang="ru-RU" b="1" dirty="0"/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647" y="1874517"/>
            <a:ext cx="795337" cy="89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201" y="3541632"/>
            <a:ext cx="1744892" cy="916068"/>
          </a:xfrm>
          <a:prstGeom prst="rect">
            <a:avLst/>
          </a:prstGeom>
        </p:spPr>
      </p:pic>
      <p:pic>
        <p:nvPicPr>
          <p:cNvPr id="1036" name="Picture 12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648" y="2835833"/>
            <a:ext cx="898086" cy="89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ttps://rafiquzzamanrafi.gallerycdn.vsassets.io/extensions/rafiquzzamanrafi/visualstudiolightpro/1.0/1632225226691/Microsoft.VisualStudio.Services.Icons.Defaul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647" y="4244214"/>
            <a:ext cx="1729805" cy="108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647" y="5160802"/>
            <a:ext cx="18034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icture backgrou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055" y="6090638"/>
            <a:ext cx="1936750" cy="65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850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функции ПО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1678" y="1549400"/>
            <a:ext cx="10178322" cy="50418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 smtClean="0"/>
              <a:t>Библиотека включает следующие компоненты:</a:t>
            </a:r>
          </a:p>
          <a:p>
            <a:r>
              <a:rPr lang="ru-RU" sz="2400" b="1" dirty="0" err="1" smtClean="0"/>
              <a:t>Кастомные</a:t>
            </a:r>
            <a:r>
              <a:rPr lang="ru-RU" sz="2400" b="1" dirty="0" smtClean="0"/>
              <a:t> кнопки</a:t>
            </a:r>
          </a:p>
          <a:p>
            <a:r>
              <a:rPr lang="ru-RU" sz="2400" b="1" dirty="0" smtClean="0"/>
              <a:t>Умное поле ввода — с </a:t>
            </a:r>
            <a:r>
              <a:rPr lang="ru-RU" sz="2400" b="1" dirty="0" err="1" smtClean="0"/>
              <a:t>валидацией</a:t>
            </a:r>
            <a:r>
              <a:rPr lang="ru-RU" sz="2400" b="1" dirty="0" smtClean="0"/>
              <a:t>, масками и подсказками.</a:t>
            </a:r>
          </a:p>
          <a:p>
            <a:r>
              <a:rPr lang="ru-RU" sz="2400" b="1" dirty="0" smtClean="0"/>
              <a:t>Расширенный </a:t>
            </a:r>
            <a:r>
              <a:rPr lang="ru-RU" sz="2400" b="1" dirty="0" err="1" smtClean="0"/>
              <a:t>DataGrid</a:t>
            </a:r>
            <a:r>
              <a:rPr lang="ru-RU" sz="2400" b="1" dirty="0" smtClean="0"/>
              <a:t> </a:t>
            </a:r>
            <a:r>
              <a:rPr lang="en-US" sz="2400" b="1" dirty="0" smtClean="0"/>
              <a:t>(</a:t>
            </a:r>
            <a:r>
              <a:rPr lang="ru-RU" sz="2400" b="1" dirty="0" smtClean="0"/>
              <a:t>встроенная сортировка, фильтрация и пагинация)</a:t>
            </a:r>
          </a:p>
          <a:p>
            <a:r>
              <a:rPr lang="ru-RU" sz="2400" b="1" dirty="0" smtClean="0"/>
              <a:t>Модальные диалоги (</a:t>
            </a:r>
            <a:r>
              <a:rPr lang="ru-RU" sz="2400" b="1" dirty="0" err="1" smtClean="0"/>
              <a:t>MessageBox</a:t>
            </a:r>
            <a:r>
              <a:rPr lang="ru-RU" sz="2400" b="1" dirty="0" smtClean="0"/>
              <a:t>-подобные окна с поддержкой </a:t>
            </a:r>
            <a:r>
              <a:rPr lang="ru-RU" sz="2400" b="1" dirty="0" err="1" smtClean="0"/>
              <a:t>кастомного</a:t>
            </a:r>
            <a:r>
              <a:rPr lang="ru-RU" sz="2400" b="1" dirty="0" smtClean="0"/>
              <a:t> контента)</a:t>
            </a:r>
          </a:p>
          <a:p>
            <a:r>
              <a:rPr lang="ru-RU" sz="2400" b="1" dirty="0" smtClean="0"/>
              <a:t>Система тем — переключение между светлой и тёмной </a:t>
            </a:r>
            <a:endParaRPr lang="en-US" sz="2400" b="1" dirty="0" smtClean="0"/>
          </a:p>
          <a:p>
            <a:r>
              <a:rPr lang="ru-RU" sz="2400" b="1" dirty="0" smtClean="0"/>
              <a:t>Индикаторы загрузки и состояния </a:t>
            </a:r>
            <a:r>
              <a:rPr lang="en-US" sz="2400" b="1" dirty="0" smtClean="0"/>
              <a:t>(</a:t>
            </a:r>
            <a:r>
              <a:rPr lang="ru-RU" sz="2400" b="1" dirty="0" smtClean="0"/>
              <a:t>для улучшения UX в асинхронных операциях</a:t>
            </a:r>
            <a:r>
              <a:rPr lang="en-US" sz="2400" b="1" dirty="0" smtClean="0"/>
              <a:t>)</a:t>
            </a:r>
            <a:endParaRPr lang="ru-RU" sz="2400" b="1" dirty="0"/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085" y="1159188"/>
            <a:ext cx="2144915" cy="143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544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Визуальная схема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2045792"/>
            <a:ext cx="10179050" cy="29273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5172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Подходы и результаты тестирования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84300" y="1651000"/>
            <a:ext cx="9969500" cy="48641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 smtClean="0"/>
              <a:t>Подходы</a:t>
            </a:r>
            <a:r>
              <a:rPr lang="ru-RU" sz="2400" b="1" dirty="0"/>
              <a:t>:</a:t>
            </a:r>
          </a:p>
          <a:p>
            <a:r>
              <a:rPr lang="ru-RU" sz="2400" b="1" dirty="0"/>
              <a:t>Модульное тестирование — покрытие логики компонентов (</a:t>
            </a:r>
            <a:r>
              <a:rPr lang="ru-RU" sz="2400" b="1" dirty="0" err="1" smtClean="0"/>
              <a:t>xUnit</a:t>
            </a:r>
            <a:r>
              <a:rPr lang="ru-RU" sz="2400" b="1" dirty="0" smtClean="0"/>
              <a:t>)</a:t>
            </a:r>
            <a:endParaRPr lang="ru-RU" sz="2400" b="1" dirty="0"/>
          </a:p>
          <a:p>
            <a:r>
              <a:rPr lang="ru-RU" sz="2400" b="1" dirty="0"/>
              <a:t>UI-тестирование — проверка отображения и </a:t>
            </a:r>
            <a:r>
              <a:rPr lang="ru-RU" sz="2400" b="1" dirty="0" smtClean="0"/>
              <a:t>взаимодействия</a:t>
            </a:r>
            <a:endParaRPr lang="ru-RU" sz="2400" b="1" dirty="0"/>
          </a:p>
          <a:p>
            <a:r>
              <a:rPr lang="ru-RU" sz="2400" b="1" dirty="0"/>
              <a:t>Регрессионное тестирование — автоматизированное при каждом </a:t>
            </a:r>
            <a:r>
              <a:rPr lang="ru-RU" sz="2400" b="1" dirty="0" err="1"/>
              <a:t>коммите</a:t>
            </a:r>
            <a:r>
              <a:rPr lang="ru-RU" sz="2400" b="1" dirty="0"/>
              <a:t> </a:t>
            </a:r>
            <a:endParaRPr lang="ru-RU" sz="2400" b="1" dirty="0" smtClean="0"/>
          </a:p>
          <a:p>
            <a:pPr marL="0" indent="0">
              <a:buNone/>
            </a:pPr>
            <a:r>
              <a:rPr lang="ru-RU" sz="2400" b="1" dirty="0" smtClean="0"/>
              <a:t>Результаты</a:t>
            </a:r>
            <a:r>
              <a:rPr lang="ru-RU" sz="2400" b="1" dirty="0"/>
              <a:t>:</a:t>
            </a:r>
          </a:p>
          <a:p>
            <a:r>
              <a:rPr lang="ru-RU" sz="2400" b="1" dirty="0"/>
              <a:t>Покрытие кода тестами: 92%</a:t>
            </a:r>
          </a:p>
          <a:p>
            <a:r>
              <a:rPr lang="ru-RU" sz="2400" b="1" dirty="0"/>
              <a:t>Все компоненты прошли тесты на корректность отображения в разных разрешениях</a:t>
            </a:r>
          </a:p>
          <a:p>
            <a:r>
              <a:rPr lang="ru-RU" sz="2400" b="1" dirty="0"/>
              <a:t>Время загрузки таблицы из 1000 строк — &lt; 450 </a:t>
            </a:r>
            <a:r>
              <a:rPr lang="ru-RU" sz="2400" b="1" dirty="0" err="1"/>
              <a:t>мс</a:t>
            </a:r>
            <a:endParaRPr lang="ru-RU" sz="2400" b="1" dirty="0"/>
          </a:p>
          <a:p>
            <a:r>
              <a:rPr lang="ru-RU" sz="2400" b="1" dirty="0" smtClean="0"/>
              <a:t>Библиотека </a:t>
            </a:r>
            <a:r>
              <a:rPr lang="ru-RU" sz="2400" b="1" dirty="0"/>
              <a:t>успешно интегрирована в два пилотных проекта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7196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Заключение: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1678" y="1874517"/>
            <a:ext cx="10102122" cy="4302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/>
              <a:t> Почему разработчики должны выбрать именно эту библиотеку?</a:t>
            </a:r>
            <a:endParaRPr lang="ru-RU" sz="2400" b="1" dirty="0" smtClean="0"/>
          </a:p>
          <a:p>
            <a:r>
              <a:rPr lang="ru-RU" sz="2400" b="1" dirty="0" smtClean="0"/>
              <a:t>Экономия времени — не нужно писать UI-компоненты с нуля.</a:t>
            </a:r>
          </a:p>
          <a:p>
            <a:r>
              <a:rPr lang="ru-RU" sz="2400" b="1" dirty="0" smtClean="0"/>
              <a:t>Надёжность — компоненты протестированы и используются в реальных проектах.</a:t>
            </a:r>
          </a:p>
          <a:p>
            <a:r>
              <a:rPr lang="ru-RU" sz="2400" b="1" dirty="0" smtClean="0"/>
              <a:t>Гибкость — полная </a:t>
            </a:r>
            <a:r>
              <a:rPr lang="ru-RU" sz="2400" b="1" dirty="0" err="1" smtClean="0"/>
              <a:t>кастомизация</a:t>
            </a:r>
            <a:r>
              <a:rPr lang="ru-RU" sz="2400" b="1" dirty="0" smtClean="0"/>
              <a:t> через стили и шаблоны.</a:t>
            </a:r>
          </a:p>
          <a:p>
            <a:r>
              <a:rPr lang="ru-RU" sz="2400" b="1" dirty="0" smtClean="0"/>
              <a:t>Документация (XML-комментарии, примеры кода, </a:t>
            </a:r>
            <a:r>
              <a:rPr lang="ru-RU" sz="2400" b="1" dirty="0" err="1" smtClean="0"/>
              <a:t>NuGet</a:t>
            </a:r>
            <a:r>
              <a:rPr lang="ru-RU" sz="2400" b="1" dirty="0" smtClean="0"/>
              <a:t>-пакет с описанием)</a:t>
            </a:r>
          </a:p>
          <a:p>
            <a:r>
              <a:rPr lang="ru-RU" sz="2400" b="1" dirty="0" smtClean="0"/>
              <a:t>Бесплатно и с открытым исходным кодом</a:t>
            </a:r>
            <a:endParaRPr lang="ru-RU" sz="24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833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204885" y="2410956"/>
            <a:ext cx="7772400" cy="16561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latin typeface="+mn-lt"/>
                <a:cs typeface="Times New Roman" panose="02020603050405020304" pitchFamily="18" charset="0"/>
              </a:rPr>
              <a:t>РАЗРАБОТКА БИБЛИОТЕКИ КОМПОНЕНТОВ </a:t>
            </a:r>
            <a:r>
              <a:rPr lang="en-US" sz="4000" b="1" dirty="0" smtClean="0">
                <a:latin typeface="+mn-lt"/>
                <a:cs typeface="Times New Roman" panose="02020603050405020304" pitchFamily="18" charset="0"/>
              </a:rPr>
              <a:t>WPF</a:t>
            </a:r>
            <a:endParaRPr lang="ru-RU" sz="40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5716458" y="4344541"/>
            <a:ext cx="6400800" cy="20162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b="1" dirty="0" smtClean="0"/>
              <a:t>Студенты ИСПП-45:</a:t>
            </a:r>
          </a:p>
          <a:p>
            <a:pPr algn="r"/>
            <a:r>
              <a:rPr lang="ru-RU" b="1" dirty="0" smtClean="0"/>
              <a:t>Камкина Ольга Андреевна</a:t>
            </a:r>
          </a:p>
          <a:p>
            <a:pPr algn="r"/>
            <a:r>
              <a:rPr lang="ru-RU" b="1" dirty="0" smtClean="0"/>
              <a:t>Шумилова Полина Алексеевна</a:t>
            </a:r>
          </a:p>
          <a:p>
            <a:pPr algn="r"/>
            <a:r>
              <a:rPr lang="ru-RU" b="1" dirty="0" smtClean="0"/>
              <a:t>Преподаватель:</a:t>
            </a:r>
          </a:p>
          <a:p>
            <a:pPr algn="r"/>
            <a:r>
              <a:rPr lang="ru-RU" b="1" dirty="0" smtClean="0"/>
              <a:t>Садовский Роман Викторович</a:t>
            </a:r>
          </a:p>
          <a:p>
            <a:pPr algn="r"/>
            <a:endParaRPr lang="ru-RU" b="1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1628734" y="106700"/>
            <a:ext cx="89174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/>
              <a:t>ФЕДЕРАЛЬНОЕ ГОСУДАРСТВЕННОЕ БЮДЖЕТНОЕ ОБРАЗОВАТЕЛЬНОЕ</a:t>
            </a:r>
            <a:endParaRPr lang="ru-RU" sz="1400" dirty="0"/>
          </a:p>
          <a:p>
            <a:pPr algn="ctr"/>
            <a:r>
              <a:rPr lang="ru-RU" sz="1400" b="1" dirty="0"/>
              <a:t>УЧРЕЖДЕНИЕ ВЫСШЕГО ОБРАЗОВАНИЯ</a:t>
            </a:r>
            <a:endParaRPr lang="ru-RU" sz="1400" dirty="0"/>
          </a:p>
          <a:p>
            <a:pPr algn="ctr"/>
            <a:r>
              <a:rPr lang="ru-RU" sz="1400" b="1" dirty="0"/>
              <a:t>«САНКТ-ПЕТЕРБУРГСКИЙ ГОСУДАРСТВЕННЫЙ УНИВЕРСИТЕТ ТЕЛЕКОММУНИКАЦИЙ ИМ. ПРОФ. М.А. БОНЧ-БРУЕВИЧА»</a:t>
            </a:r>
            <a:endParaRPr lang="ru-RU" sz="1400" dirty="0"/>
          </a:p>
          <a:p>
            <a:pPr algn="ctr"/>
            <a:r>
              <a:rPr lang="ru-RU" sz="1400" b="1" dirty="0"/>
              <a:t>(</a:t>
            </a:r>
            <a:r>
              <a:rPr lang="ru-RU" sz="1400" b="1" dirty="0" err="1"/>
              <a:t>СПбГУТ</a:t>
            </a:r>
            <a:r>
              <a:rPr lang="ru-RU" sz="1400" b="1" dirty="0"/>
              <a:t>)</a:t>
            </a:r>
            <a:endParaRPr lang="ru-RU" sz="1400" dirty="0"/>
          </a:p>
          <a:p>
            <a:pPr algn="ctr"/>
            <a:r>
              <a:rPr lang="ru-RU" sz="1400" b="1" dirty="0"/>
              <a:t> </a:t>
            </a:r>
            <a:endParaRPr lang="ru-RU" sz="1400" dirty="0"/>
          </a:p>
          <a:p>
            <a:pPr algn="ctr"/>
            <a:r>
              <a:rPr lang="ru-RU" sz="1400" b="1" dirty="0"/>
              <a:t>АРХАНГЕЛЬСКИЙ КОЛЛЕДЖ ТЕЛЕКОММУНИКАЦИЙ</a:t>
            </a:r>
            <a:endParaRPr lang="ru-RU" sz="1400" dirty="0"/>
          </a:p>
          <a:p>
            <a:pPr algn="ctr"/>
            <a:r>
              <a:rPr lang="ru-RU" sz="1400" b="1" dirty="0"/>
              <a:t>ИМ. Б.Л. РОЗИНГА (ФИЛИАЛ) </a:t>
            </a:r>
            <a:r>
              <a:rPr lang="ru-RU" sz="1400" b="1" dirty="0" err="1"/>
              <a:t>СПбГУТ</a:t>
            </a:r>
            <a:endParaRPr lang="ru-RU" sz="1400" dirty="0"/>
          </a:p>
          <a:p>
            <a:pPr algn="ctr"/>
            <a:r>
              <a:rPr lang="ru-RU" sz="1400" b="1" dirty="0"/>
              <a:t>(АКТ (ф) </a:t>
            </a:r>
            <a:r>
              <a:rPr lang="ru-RU" sz="1400" b="1" dirty="0" err="1"/>
              <a:t>СПбГУТ</a:t>
            </a:r>
            <a:r>
              <a:rPr lang="ru-RU" sz="1400" b="1" dirty="0"/>
              <a:t>)</a:t>
            </a:r>
            <a:endParaRPr lang="ru-RU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4981274" y="6360765"/>
            <a:ext cx="221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</a:rPr>
              <a:t>Архангельск,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</a:rPr>
              <a:t>2025</a:t>
            </a:r>
            <a:endParaRPr lang="ru-RU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A607-9FD3-474E-82D2-49D9A42F783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33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46</TotalTime>
  <Words>429</Words>
  <Application>Microsoft Office PowerPoint</Application>
  <PresentationFormat>Широкоэкранный</PresentationFormat>
  <Paragraphs>87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Corbel</vt:lpstr>
      <vt:lpstr>Gill Sans MT</vt:lpstr>
      <vt:lpstr>Impact</vt:lpstr>
      <vt:lpstr>Times New Roman</vt:lpstr>
      <vt:lpstr>Badge</vt:lpstr>
      <vt:lpstr>Презентация PowerPoint</vt:lpstr>
      <vt:lpstr>Актуальность</vt:lpstr>
      <vt:lpstr>Цель</vt:lpstr>
      <vt:lpstr>Задачи</vt:lpstr>
      <vt:lpstr>Описание используемых технологий </vt:lpstr>
      <vt:lpstr>Основные функции ПО</vt:lpstr>
      <vt:lpstr>Визуальная схема </vt:lpstr>
      <vt:lpstr>Подходы и результаты тестирования </vt:lpstr>
      <vt:lpstr>Заключение: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221</dc:creator>
  <cp:lastModifiedBy>221</cp:lastModifiedBy>
  <cp:revision>7</cp:revision>
  <dcterms:created xsi:type="dcterms:W3CDTF">2025-11-05T11:40:58Z</dcterms:created>
  <dcterms:modified xsi:type="dcterms:W3CDTF">2025-11-05T12:27:44Z</dcterms:modified>
</cp:coreProperties>
</file>